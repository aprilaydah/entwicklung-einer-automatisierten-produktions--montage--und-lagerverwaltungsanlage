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~40 s: Begrüßung, Name, Weiterbildung, Datum, Projekttitel. Nicht in Technik gehen.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~30 s: Gliederung vorlesen. Danach strikt dieser Reihenfolge folgen.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 min: Ziel ist die Verbindung der Teilprozesse, nicht eine einzelne Station.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 min: Kurz das System. Details in der Durchführung.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 min: Ehrlich. Soll ist die Freigabe. Ist: Kunststoff Nachweis, Metall Spiegel, HMI/CE offen.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~50 s: Scope klar abgrenzen. Wasser und ERP bewusst draußen.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 min: Klar sagen: keine Fabrik gebaut. 250 Stunden und 45 Euro sind Annahmen zum Einordnen. Kostenstelle ist die Weiterbildung, nicht ein Auftrag.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~1,2 min: Zahlen laut ansagen als BEISPIEL. 1 Verwechslung/Tag mal 80 Euro mal 200 Tage. Nutzen 14400 gegen Aufwand 11250. Danach qualitativ: RFID-Gate, zwei getrennte Lager.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~50 s: Zeitachse. Kunststoff zuerst war die bewusste Reihenfolge.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~1,2 min: Vier echte Probleme. Nicht allgemein „Kommunikation war schwer“.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 min: Methodik. Danach drei Folien zur konkreten Anlage.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~1,2 min: Spiegel. W1 = Kunststoff 5B. W2 = Metall 5A.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~1,5 min: Wichtigste Technik-Folie. Gate und W1≠W2 betonen.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~50 s: TP vor Web. Optimized DB nicht per PUT/GET.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 min: Ausblick konkret, kein Wunschkonzert.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~1,2 min: Lernen, nicht noch einmal die Zonen aufzählen.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~20 s: Satz stehen lassen. Dann Folie Ende.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~45 s: Danke, Fragen. Optional Demo FIO oder Streamlit.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7A99"/>
                </a:solidFill>
                <a:latin typeface="Calibri"/>
              </a:rPr>
              <a:t>Willkommen  ·  Abschlusspräsentation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Entwicklung einer automatisierten
Produktions-, Montage- und Lagerverwaltungsanlage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918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RFID-gestützte Produktverfolgung  ·  TIA Portal V20  ·  Factory I/O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2976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Name:           Dereje Hailemariam
Weiterbildung:  Abschlussprojekt Automatisierungstechnik, Berlin
Datum:          11. September 2026
Dauer:          15 Minuten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65D"/>
                </a:solidFill>
                <a:latin typeface="Calibri"/>
              </a:rPr>
              <a:t>Inhaltsverzeichnis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68096"/>
            <a:ext cx="1828800" cy="64008"/>
          </a:xfrm>
          <a:prstGeom prst="rect">
            <a:avLst/>
          </a:prstGeom>
          <a:solidFill>
            <a:srgbClr val="00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4A4A"/>
                </a:solidFill>
                <a:latin typeface="Calibri"/>
              </a:rPr>
              <a:t>15 Minuten  ·  18 Folien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1.  Projektziel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2.  Projektbeschreibung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3.  Soll–Ist-Vergleich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4.  Projektumfang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5.  Kosten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6.  Wirtschaftlichkeit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7.  Zeit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8.  Herausforderungen und Lösungen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28016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9.  Projektdurchführung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      – Anlage und Linien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      – RFID und Hochregal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      – Software und HMI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10. Ausblick / Erweiterungen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11. Fazit — was ich gelernt habe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12. Ende / Fragen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28816"/>
            <a:ext cx="9326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Dereje Hailemariam  ·  Abschlussprojekt Weiterbildung  ·  Berlin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528816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65D"/>
                </a:solidFill>
                <a:latin typeface="Calibri"/>
              </a:rPr>
              <a:t>Projektziel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68096"/>
            <a:ext cx="1828800" cy="64008"/>
          </a:xfrm>
          <a:prstGeom prst="rect">
            <a:avLst/>
          </a:prstGeom>
          <a:solidFill>
            <a:srgbClr val="00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4A4A"/>
                </a:solidFill>
                <a:latin typeface="Calibri"/>
              </a:rPr>
              <a:t>Was am Ende funktionieren soll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Eine durchgängige Fertigungs- und Lagerlinie in TIA Portal und Factory I/O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Zwei Materiallinien: Metall (A) und Kunststoff (B), jeweils Base und Deckel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RFID-Verfolgung: Artikel, Material, Typ, Code vom Band bis ins Fach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Montage (2-axis P&amp;P), Palettierung, automatische Ein- und Auslagerung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Eine SPS (CPU 1518F), ein HMI (TP2200), Manual und Automatik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54 Lagerfächer adressierbar, Zustände speicherbar, modular erweiterbar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Dokumentiert: Lastenheft, Pflichtenheft, SCL, Tag-Listen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28816"/>
            <a:ext cx="9326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Dereje Hailemariam  ·  Abschlussprojekt Weiterbildung  ·  Berlin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528816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65D"/>
                </a:solidFill>
                <a:latin typeface="Calibri"/>
              </a:rPr>
              <a:t>Projektbeschreibung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68096"/>
            <a:ext cx="1828800" cy="64008"/>
          </a:xfrm>
          <a:prstGeom prst="rect">
            <a:avLst/>
          </a:prstGeom>
          <a:solidFill>
            <a:srgbClr val="00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4A4A"/>
                </a:solidFill>
                <a:latin typeface="Calibri"/>
              </a:rPr>
              <a:t>Simulierte Factory, eine Steuerung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5577840" cy="2148840"/>
          </a:xfrm>
          <a:prstGeom prst="roundRect">
            <a:avLst/>
          </a:prstGeom>
          <a:solidFill>
            <a:srgbClr val="F4F6F8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 tIns="109728"/>
          <a:lstStyle/>
          <a:p>
            <a:pPr algn="ctr"/>
            <a:r>
              <a:rPr sz="1600" b="1">
                <a:solidFill>
                  <a:srgbClr val="1B365D"/>
                </a:solidFill>
                <a:latin typeface="Calibri"/>
              </a:rPr>
              <a:t>Anlage</a:t>
            </a:r>
          </a:p>
          <a:p>
            <a:r>
              <a:rPr sz="1300" b="0">
                <a:solidFill>
                  <a:srgbClr val="1A1A1A"/>
                </a:solidFill>
                <a:latin typeface="Calibri"/>
              </a:rPr>
              <a:t>Factory I/O: Roh, CNC, Bänder, Vision,
2-axis / 3-axis Pick &amp; Place, Palettierer,
zwei Hochregale à 54 Fächer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577840" cy="2148840"/>
          </a:xfrm>
          <a:prstGeom prst="roundRect">
            <a:avLst/>
          </a:prstGeom>
          <a:solidFill>
            <a:srgbClr val="F4F6F8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 tIns="109728"/>
          <a:lstStyle/>
          <a:p>
            <a:pPr algn="ctr"/>
            <a:r>
              <a:rPr sz="1600" b="1">
                <a:solidFill>
                  <a:srgbClr val="1B365D"/>
                </a:solidFill>
                <a:latin typeface="Calibri"/>
              </a:rPr>
              <a:t>Steuerung</a:t>
            </a:r>
          </a:p>
          <a:p>
            <a:r>
              <a:rPr sz="1300" b="0">
                <a:solidFill>
                  <a:srgbClr val="1A1A1A"/>
                </a:solidFill>
                <a:latin typeface="Calibri"/>
              </a:rPr>
              <a:t>TIA Portal V20
CPU 1518F-4 PN/DP (Failsafe)
OB1: 29 Netzwerke, SCL + FUP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611880"/>
            <a:ext cx="5577840" cy="2148840"/>
          </a:xfrm>
          <a:prstGeom prst="roundRect">
            <a:avLst/>
          </a:prstGeom>
          <a:solidFill>
            <a:srgbClr val="F4F6F8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 tIns="109728"/>
          <a:lstStyle/>
          <a:p>
            <a:pPr algn="ctr"/>
            <a:r>
              <a:rPr sz="1600" b="1">
                <a:solidFill>
                  <a:srgbClr val="1B365D"/>
                </a:solidFill>
                <a:latin typeface="Calibri"/>
              </a:rPr>
              <a:t>Identifikation</a:t>
            </a:r>
          </a:p>
          <a:p>
            <a:r>
              <a:rPr sz="1300" b="0">
                <a:solidFill>
                  <a:srgbClr val="1A1A1A"/>
                </a:solidFill>
                <a:latin typeface="Calibri"/>
              </a:rPr>
              <a:t>Vision erkennt Farbe/Typ
RFID schreibt den Tag an der Palette
Gate: ohne gültigen Tag kein Auto-Einlagern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611880"/>
            <a:ext cx="5577840" cy="2148840"/>
          </a:xfrm>
          <a:prstGeom prst="roundRect">
            <a:avLst/>
          </a:prstGeom>
          <a:solidFill>
            <a:srgbClr val="F4F6F8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 tIns="109728"/>
          <a:lstStyle/>
          <a:p>
            <a:pPr algn="ctr"/>
            <a:r>
              <a:rPr sz="1600" b="1">
                <a:solidFill>
                  <a:srgbClr val="1B365D"/>
                </a:solidFill>
                <a:latin typeface="Calibri"/>
              </a:rPr>
              <a:t>Lager</a:t>
            </a:r>
          </a:p>
          <a:p>
            <a:r>
              <a:rPr sz="1300" b="0">
                <a:solidFill>
                  <a:srgbClr val="1A1A1A"/>
                </a:solidFill>
                <a:latin typeface="Calibri"/>
              </a:rPr>
              <a:t>W1 Kunststoff Zone 5B NW 29
W2 Metall Zone 5A NW 28
getrennte DBs, Merker, Kräne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528816"/>
            <a:ext cx="9326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Dereje Hailemariam  ·  Abschlussprojekt Weiterbildung  ·  Berlin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6528816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65D"/>
                </a:solidFill>
                <a:latin typeface="Calibri"/>
              </a:rPr>
              <a:t>Soll–Ist-Vergleich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68096"/>
            <a:ext cx="1828800" cy="64008"/>
          </a:xfrm>
          <a:prstGeom prst="rect">
            <a:avLst/>
          </a:prstGeom>
          <a:solidFill>
            <a:srgbClr val="00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4A4A"/>
                </a:solidFill>
                <a:latin typeface="Calibri"/>
              </a:rPr>
              <a:t>Freigabe versus heutiger Stand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234440"/>
          <a:ext cx="1133856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572000"/>
                <a:gridCol w="4572000"/>
              </a:tblGrid>
              <a:tr h="762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Thema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Soll (Freigabe)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Ist (heute)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Linienfluss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Roh → Bearbeitung → Montage → Palette → Lager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Kunststoff E2E; Metall bis W2-SCL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RFID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Tag mit Artikel/Material/Typ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4B Write + 4A Read/Write implementiert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Lager 54 Fächer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Ein-/Auslagern, Suche, HMI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W1 live; W2 SCL/FIO, erste Palette offen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HMI ein TP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Manual, Auto, Meldungen, Regal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Konzepte + Tags; Screens am TP noch binden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Doku / Test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Lasten-/Pflichtenheft, Test in FIO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v1.6 / v1.3, Repo, Web-Suche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28816"/>
            <a:ext cx="9326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Dereje Hailemariam  ·  Abschlussprojekt Weiterbildung  ·  Berlin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528816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65D"/>
                </a:solidFill>
                <a:latin typeface="Calibri"/>
              </a:rPr>
              <a:t>Projektumfang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68096"/>
            <a:ext cx="1828800" cy="64008"/>
          </a:xfrm>
          <a:prstGeom prst="rect">
            <a:avLst/>
          </a:prstGeom>
          <a:solidFill>
            <a:srgbClr val="00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4A4A"/>
                </a:solidFill>
                <a:latin typeface="Calibri"/>
              </a:rPr>
              <a:t>Maschinengrenzen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5577840" cy="4572000"/>
          </a:xfrm>
          <a:prstGeom prst="roundRect">
            <a:avLst/>
          </a:prstGeom>
          <a:solidFill>
            <a:srgbClr val="F4F6F8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 tIns="109728"/>
          <a:lstStyle/>
          <a:p>
            <a:pPr algn="ctr"/>
            <a:r>
              <a:rPr sz="1600" b="1">
                <a:solidFill>
                  <a:srgbClr val="2E7D4F"/>
                </a:solidFill>
                <a:latin typeface="Calibri"/>
              </a:rPr>
              <a:t>Gehört dazu</a:t>
            </a:r>
          </a:p>
          <a:p>
            <a:r>
              <a:rPr sz="1300" b="0">
                <a:solidFill>
                  <a:srgbClr val="1A1A1A"/>
                </a:solidFill>
                <a:latin typeface="Calibri"/>
              </a:rPr>
              <a:t>Zonen 1A/1B bis 5A/5B
SPS, HMI, Factory I/O, Sicherheitskonzept
RFID, Vision, P&amp;P, Palettierer, zwei Hochregale
Lagerverwaltung Online (Web-Suche)
Lastenheft, Pflichtenheft, SCL-Repo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577840" cy="4572000"/>
          </a:xfrm>
          <a:prstGeom prst="roundRect">
            <a:avLst/>
          </a:prstGeom>
          <a:solidFill>
            <a:srgbClr val="F4F6F8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 tIns="109728"/>
          <a:lstStyle/>
          <a:p>
            <a:pPr algn="ctr"/>
            <a:r>
              <a:rPr sz="1600" b="1">
                <a:solidFill>
                  <a:srgbClr val="C45C26"/>
                </a:solidFill>
                <a:latin typeface="Calibri"/>
              </a:rPr>
              <a:t>Gehört nicht dazu</a:t>
            </a:r>
          </a:p>
          <a:p>
            <a:r>
              <a:rPr sz="1300" b="0">
                <a:solidFill>
                  <a:srgbClr val="1A1A1A"/>
                </a:solidFill>
                <a:latin typeface="Calibri"/>
              </a:rPr>
              <a:t>Wasserverbrauch / Wasserwirtschaft
ERP-Anbindung
externe Energie, Stapler, Personal
Live-Sync Web-DB ↔ SPS-Lager-DB
volle CE-Akte (später)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28816"/>
            <a:ext cx="9326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Dereje Hailemariam  ·  Abschlussprojekt Weiterbildung  ·  Berlin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528816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65D"/>
                </a:solidFill>
                <a:latin typeface="Calibri"/>
              </a:rPr>
              <a:t>Kosten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68096"/>
            <a:ext cx="1828800" cy="64008"/>
          </a:xfrm>
          <a:prstGeom prst="rect">
            <a:avLst/>
          </a:prstGeom>
          <a:solidFill>
            <a:srgbClr val="00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4A4A"/>
                </a:solidFill>
                <a:latin typeface="Calibri"/>
              </a:rPr>
              <a:t>Schulungsprojekt: kein Capex für Mechanik — Aufwand = Zeit + vorhandene Lizenzen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188720"/>
          <a:ext cx="1133856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4206240"/>
                <a:gridCol w="4114800"/>
              </a:tblGrid>
              <a:tr h="5867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Position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Ansatz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Bewertung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Mechanik / Schaltschrank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 EUR — Simulation Factory I/O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keine Beschaffung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SPS / HMI Hardware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Labor (1518F, TP2200)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Kurs / Schule, 0 EUR extra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Software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TIA V20, Factory I/O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Schulungslizenz, im Kurs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Arbeitszeit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ca. 10 Wochen, ~250 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Steuerung, Test, Doku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Zeitäquivalent*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250 h × 45 EUR/h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ca. 11.250 EUR intern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846320"/>
            <a:ext cx="112471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4A4A"/>
                </a:solidFill>
                <a:latin typeface="Calibri"/>
              </a:rPr>
              <a:t>*Interner Verrechnungssatz nur zur Einordnung (Annahme). Keine Rechnung an einen Kunden.
Zusatzkosten über den Kurs hinaus: praktisch 0 EUR. Der Engpass war Kalenderzeit, nicht Geld.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28816"/>
            <a:ext cx="9326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Dereje Hailemariam  ·  Abschlussprojekt Weiterbildung  ·  Berlin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528816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65D"/>
                </a:solidFill>
                <a:latin typeface="Calibri"/>
              </a:rPr>
              <a:t>Wirtschaftlichkeit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68096"/>
            <a:ext cx="1828800" cy="64008"/>
          </a:xfrm>
          <a:prstGeom prst="rect">
            <a:avLst/>
          </a:prstGeom>
          <a:solidFill>
            <a:srgbClr val="00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4A4A"/>
                </a:solidFill>
                <a:latin typeface="Calibri"/>
              </a:rPr>
              <a:t>Beispielrechnung für ein fiktives Unternehmen — Annahmen, keine echten Firmendaten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143000"/>
          <a:ext cx="11338560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4160520"/>
                <a:gridCol w="4160520"/>
              </a:tblGrid>
              <a:tr h="5410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Annahme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Ohne RFID / Inseln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Mit dieser Lösung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Verwechslung Palette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1 Fall / Tag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0,1 Fall / Tag (Gate + Tag)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Nacharbeit je Fall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80 EUR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80 EUR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200 Arbeitstage / Jahr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16.000 EUR Schaden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1.600 EUR Rest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Nutzen pro Jahr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ca. 14.400 EUR vermieden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Interner Projektaufwand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ca. 11.250 EUR (250 h)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52628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Fazit der Rechnung: Amortisation unter einem Jahr — nur unter diesen Annahmen.
Qualitativ (Freigabe): weniger Mischfehler Metall/Kunststoff, Übersicht Roh/Fertig, kürzere Durchlaufzeit,
Nachverfolgbarkeit, digitales Abbild vor einem teuren Hallenumbau. Simulation spart Fehlversuche an der realen Anlage.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28816"/>
            <a:ext cx="9326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Dereje Hailemariam  ·  Abschlussprojekt Weiterbildung  ·  Berlin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528816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65D"/>
                </a:solidFill>
                <a:latin typeface="Calibri"/>
              </a:rPr>
              <a:t>Zeit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68096"/>
            <a:ext cx="1828800" cy="64008"/>
          </a:xfrm>
          <a:prstGeom prst="rect">
            <a:avLst/>
          </a:prstGeom>
          <a:solidFill>
            <a:srgbClr val="00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4A4A"/>
                </a:solidFill>
                <a:latin typeface="Calibri"/>
              </a:rPr>
              <a:t>Von der Freigabe bis zur Präsentation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80160"/>
          <a:ext cx="1124712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200400"/>
                <a:gridCol w="5303520"/>
              </a:tblGrid>
              <a:tr h="7010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Phase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Zeitraum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Ergebnis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Freigabe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Juni 2026 (29.06.)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Thema und Ziele bestätigt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Konzept / Layout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Juli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Zonen, Tags, W1/W2-Trennung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Umsetzung Kern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Juli–August 2026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P&amp;P, RFID, W1 Automatik E2E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W2 + Doku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August–September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W2 SCL, Lasten-/Pflichtenheft, Web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Präsentation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11.09.2026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15 Minuten Abschlussvortrag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28816"/>
            <a:ext cx="9326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Dereje Hailemariam  ·  Abschlussprojekt Weiterbildung  ·  Berlin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528816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65D"/>
                </a:solidFill>
                <a:latin typeface="Calibri"/>
              </a:rPr>
              <a:t>Herausforderungen / Lösungen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68096"/>
            <a:ext cx="1828800" cy="64008"/>
          </a:xfrm>
          <a:prstGeom prst="rect">
            <a:avLst/>
          </a:prstGeom>
          <a:solidFill>
            <a:srgbClr val="00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4A4A"/>
                </a:solidFill>
                <a:latin typeface="Calibri"/>
              </a:rPr>
              <a:t>Was schiefgehen konnte — und wie es gelöst wurde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34440"/>
          <a:ext cx="1124712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93268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Herausforderung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Lösung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W1 und W2 vermischt (gleiche FB-Namen)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Eigene DBs, Merker %M60 / %M70, NW 29 / 28, Kräne 0 / 1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HMI-DB hat RFID-Daten gelöscht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Datenverwaltung kopiert Fachaktuell nur bei Fachwechsel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PUT/GET liest keine optimized DBs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Occupancy-Bytes auf Merker HRL_Occ / HRL2_Occ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PC-WLAN ≠ CPU-Netz (kein Port 102)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PLCSIM Advanced oder gleiche Subnet; Web unabhängig nutzbar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28816"/>
            <a:ext cx="9326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Dereje Hailemariam  ·  Abschlussprojekt Weiterbildung  ·  Berlin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528816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65D"/>
                </a:solidFill>
                <a:latin typeface="Calibri"/>
              </a:rPr>
              <a:t>Projektdurchführung — Vorgehen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68096"/>
            <a:ext cx="1828800" cy="64008"/>
          </a:xfrm>
          <a:prstGeom prst="rect">
            <a:avLst/>
          </a:prstGeom>
          <a:solidFill>
            <a:srgbClr val="00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4A4A"/>
                </a:solidFill>
                <a:latin typeface="Calibri"/>
              </a:rPr>
              <a:t>Sechs Schritte aus der Freigabe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1. Layout, Signale, Betriebsarten Manual / Automatik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2. SPS-Bausteine: Förder, Bearbeitung, RFID, P&amp;P, Palettierer, Hochregal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3. Lagerverwaltung: DBs, Suchen, Einlagern, Auslagern, Löschen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4. HMI: Fach, Status, Meldungen, Regalbelegung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5. Factory I/O: Bewegungen und Sensor/Aktor prüfen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6. Tests, Fehlerreaktion, Dokumentation (Lasten- und Pflichtenheft)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Arbeitsweise: zuerst Kunststofflinie komplett, dann Metall als Spiegel mit _W2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28816"/>
            <a:ext cx="9326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Dereje Hailemariam  ·  Abschlussprojekt Weiterbildung  ·  Berlin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528816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65D"/>
                </a:solidFill>
                <a:latin typeface="Calibri"/>
              </a:rPr>
              <a:t>Projektdurchführung — Anlage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68096"/>
            <a:ext cx="1828800" cy="64008"/>
          </a:xfrm>
          <a:prstGeom prst="rect">
            <a:avLst/>
          </a:prstGeom>
          <a:solidFill>
            <a:srgbClr val="00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4A4A"/>
                </a:solidFill>
                <a:latin typeface="Calibri"/>
              </a:rPr>
              <a:t>Zwei Linien, fünf Zonen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234440"/>
          <a:ext cx="1133856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4983480"/>
                <a:gridCol w="4983480"/>
              </a:tblGrid>
              <a:tr h="7772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Zone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Linie A Metall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Linie B Kunststoff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Roh, Roboter A/B, CNC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Roh, Roboter C/D, CNC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Band + Vision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Band + Vision → RFID-Daten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2-axis Montage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2-axis Montage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3-axis P&amp;P, Palettierer, RFID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Palettierer, RFID Write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Hochregal W2  ·  NW 28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Hochregal W1  ·  NW 29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28816"/>
            <a:ext cx="9326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Dereje Hailemariam  ·  Abschlussprojekt Weiterbildung  ·  Berlin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528816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65D"/>
                </a:solidFill>
                <a:latin typeface="Calibri"/>
              </a:rPr>
              <a:t>Projektdurchführung — RFID und Hochregal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68096"/>
            <a:ext cx="1828800" cy="64008"/>
          </a:xfrm>
          <a:prstGeom prst="rect">
            <a:avLst/>
          </a:prstGeom>
          <a:solidFill>
            <a:srgbClr val="00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4A4A"/>
                </a:solidFill>
                <a:latin typeface="Calibri"/>
              </a:rPr>
              <a:t>Identität bis ins Fach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Vision liefert Farbe, Artikel, Typ → RFID-CODE auf die Palette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Kunststoff: Write wenn Palettierer fertig (Reader 2). Metall: Reader 1 in Zone 4A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Gate: Palette vor dem Regal UND RFID erledigt — sonst kein Automatikzyklus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W1 Automatik: State 10 Reader 5, dann freies Fach, Kran 0, Einlagern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W2 Automatik: kein Reader 0 am Regal → State 10 entfällt; Produkt von 4A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HMI: 6×9, Fach 1–6 unten; gelber Rand = Ziel-Fach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Instanzen: fb_Datenverwaltung_Lager_DB  ≠  FB_Datenverwaltung_Lager_W2_DB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28816"/>
            <a:ext cx="9326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Dereje Hailemariam  ·  Abschlussprojekt Weiterbildung  ·  Berlin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528816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65D"/>
                </a:solidFill>
                <a:latin typeface="Calibri"/>
              </a:rPr>
              <a:t>Projektdurchführung — Software und HMI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68096"/>
            <a:ext cx="1828800" cy="64008"/>
          </a:xfrm>
          <a:prstGeom prst="rect">
            <a:avLst/>
          </a:prstGeom>
          <a:solidFill>
            <a:srgbClr val="00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4A4A"/>
                </a:solidFill>
                <a:latin typeface="Calibri"/>
              </a:rPr>
              <a:t>Ein Repo, ein OB1, ein Panel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5577840" cy="4480560"/>
          </a:xfrm>
          <a:prstGeom prst="roundRect">
            <a:avLst/>
          </a:prstGeom>
          <a:solidFill>
            <a:srgbClr val="F4F6F8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 tIns="109728"/>
          <a:lstStyle/>
          <a:p>
            <a:pPr algn="ctr"/>
            <a:r>
              <a:rPr sz="1600" b="1">
                <a:solidFill>
                  <a:srgbClr val="1B365D"/>
                </a:solidFill>
                <a:latin typeface="Calibri"/>
              </a:rPr>
              <a:t>SPS / Repo</a:t>
            </a:r>
          </a:p>
          <a:p>
            <a:r>
              <a:rPr sz="1300" b="0">
                <a:solidFill>
                  <a:srgbClr val="1A1A1A"/>
                </a:solidFill>
                <a:latin typeface="Calibri"/>
              </a:rPr>
              <a:t>Git: scl/ je Zone, docs/ je Kapitel
OB1 29 Netzwerke
SCL: Einlagern, Suchen, Automatik, …
PUT/GET: Occupancy-Merker, nicht optimized DB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577840" cy="4480560"/>
          </a:xfrm>
          <a:prstGeom prst="roundRect">
            <a:avLst/>
          </a:prstGeom>
          <a:solidFill>
            <a:srgbClr val="F4F6F8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 tIns="109728"/>
          <a:lstStyle/>
          <a:p>
            <a:pPr algn="ctr"/>
            <a:r>
              <a:rPr sz="1600" b="1">
                <a:solidFill>
                  <a:srgbClr val="1B365D"/>
                </a:solidFill>
                <a:latin typeface="Calibri"/>
              </a:rPr>
              <a:t>Bedienen</a:t>
            </a:r>
          </a:p>
          <a:p>
            <a:r>
              <a:rPr sz="1300" b="0">
                <a:solidFill>
                  <a:srgbClr val="1A1A1A"/>
                </a:solidFill>
                <a:latin typeface="Calibri"/>
              </a:rPr>
              <a:t>TP2200 bleibt führend
Web Streamlit: Suche RFID/Artikel/Fach
kein Ersatz für das Touch Panel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28816"/>
            <a:ext cx="9326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Dereje Hailemariam  ·  Abschlussprojekt Weiterbildung  ·  Berlin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528816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65D"/>
                </a:solidFill>
                <a:latin typeface="Calibri"/>
              </a:rPr>
              <a:t>Ausblick / Erweiterungen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68096"/>
            <a:ext cx="1828800" cy="64008"/>
          </a:xfrm>
          <a:prstGeom prst="rect">
            <a:avLst/>
          </a:prstGeom>
          <a:solidFill>
            <a:srgbClr val="00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4A4A"/>
                </a:solidFill>
                <a:latin typeface="Calibri"/>
              </a:rPr>
              <a:t>Was als Nächstes kommt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Warehouse 2: Raster-Teach, erste Palette Hand und Automatik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Zone 1/2: CNC- und Band-Feinsteuerung in OB1 festziehen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WinCC: 54-Fach-Animation am TP für W1 und W2 fertig verdrahten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Optional: OPC UA oder PUT/GET Live-Belegung in der Web-App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Sicherheit nach EN ISO 12100 und CE-Dokumentation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Nicht geplant: ERP, Wasserwirtschaft, reale Mechanikbeschaffung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28816"/>
            <a:ext cx="9326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Dereje Hailemariam  ·  Abschlussprojekt Weiterbildung  ·  Berlin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528816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65D"/>
                </a:solidFill>
                <a:latin typeface="Calibri"/>
              </a:rPr>
              <a:t>Fazit — was ich daraus gelernt habe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68096"/>
            <a:ext cx="1828800" cy="64008"/>
          </a:xfrm>
          <a:prstGeom prst="rect">
            <a:avLst/>
          </a:prstGeom>
          <a:solidFill>
            <a:srgbClr val="00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Eine Factory braucht klare Grenzen: Wer ist W1, wer ist W2 — sonst zerstört Copy-Paste die Daten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RFID nützt nur, wenn das Gate den Prozess wirklich sperrt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HMI-DBs und Prozess-DBs trennen: jedes Scan kopieren kann Buchungen löschen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Kommunikation SPS–PC: Netz und PUT/GET zuerst, dann Visualisierung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Lastenheft (Was) und Pflichtenheft (Wie) früh schreiben — sonst driftet der Code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Zuerst eine Linie fertig machen (Kunststoff), dann spiegeln — schneller als beide halb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28816"/>
            <a:ext cx="9326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Dereje Hailemariam  ·  Abschlussprojekt Weiterbildung  ·  Berlin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28816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65D"/>
                </a:solidFill>
                <a:latin typeface="Calibri"/>
              </a:rPr>
              <a:t>Kernaussage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68096"/>
            <a:ext cx="1828800" cy="64008"/>
          </a:xfrm>
          <a:prstGeom prst="rect">
            <a:avLst/>
          </a:prstGeom>
          <a:solidFill>
            <a:srgbClr val="00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4A4A"/>
                </a:solidFill>
                <a:latin typeface="Calibri"/>
              </a:rPr>
              <a:t>In einem Satz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10972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B365D"/>
                </a:solidFill>
                <a:latin typeface="Calibri"/>
              </a:rPr>
              <a:t>Zwei Linien, RFID bis ins Fach,
Warehouse 1 Kunststoff und Warehouse 2 Metall
getrennt, ein HMI — nachgewiesen in TIA und Factory I/O.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28816"/>
            <a:ext cx="9326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Dereje Hailemariam  ·  Abschlussprojekt Weiterbildung  ·  Berlin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528816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Vielen Dank für Ihre Aufmerksamkeit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00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007A99"/>
                </a:solidFill>
                <a:latin typeface="Calibri"/>
              </a:rPr>
              <a:t>Fragen?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062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Dereje Hailemariam  ·  Berlin  ·  11.09.2026
Weiterbildung Abschlussprojekt Automatisierungstechnik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